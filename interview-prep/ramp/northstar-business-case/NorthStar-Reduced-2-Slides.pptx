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6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1B28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256032"/>
            <a:ext cx="9144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200"/>
              </a:spcAft>
              <a:defRPr sz="1200" b="0">
                <a:solidFill>
                  <a:srgbClr val="4A5568"/>
                </a:solidFill>
              </a:defRPr>
            </a:pPr>
            <a:r>
              <a:t>NorthStar Aviation  ·  Aircraft parts path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502920"/>
            <a:ext cx="109728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200"/>
              </a:spcAft>
              <a:defRPr sz="2800" b="1">
                <a:solidFill>
                  <a:srgbClr val="1B2838"/>
                </a:solidFill>
              </a:defRPr>
            </a:pPr>
            <a:r>
              <a:t>Recommended path — pressure-test with me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143000"/>
            <a:ext cx="2194560" cy="233172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566928" y="1280160"/>
            <a:ext cx="329184" cy="329184"/>
          </a:xfrm>
          <a:prstGeom prst="ellipse">
            <a:avLst/>
          </a:prstGeom>
          <a:solidFill>
            <a:srgbClr val="0E7C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66928" y="1298448"/>
            <a:ext cx="329184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200"/>
              </a:spcAft>
              <a:defRPr sz="1200" b="1">
                <a:solidFill>
                  <a:srgbClr val="FFFFFF"/>
                </a:solidFill>
              </a:defRPr>
            </a:pPr>
            <a: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" y="1691640"/>
            <a:ext cx="1975104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200"/>
              </a:spcAft>
              <a:defRPr sz="1500" b="1">
                <a:solidFill>
                  <a:srgbClr val="1B2838"/>
                </a:solidFill>
              </a:defRPr>
            </a:pPr>
            <a:r>
              <a:t>Request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66928" y="2103120"/>
            <a:ext cx="1975104" cy="12344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200"/>
              </a:spcAft>
              <a:defRPr sz="1200" b="0">
                <a:solidFill>
                  <a:srgbClr val="4A5568"/>
                </a:solidFill>
              </a:defRPr>
            </a:pPr>
            <a:r>
              <a:t>Qty × price</a:t>
            </a:r>
          </a:p>
          <a:p>
            <a:pPr algn="l">
              <a:spcAft>
                <a:spcPts val="200"/>
              </a:spcAft>
              <a:defRPr sz="1200" b="0">
                <a:solidFill>
                  <a:srgbClr val="4A5568"/>
                </a:solidFill>
              </a:defRPr>
            </a:pPr>
            <a:r>
              <a:t>Need-by · vendor</a:t>
            </a:r>
          </a:p>
          <a:p>
            <a:pPr algn="l">
              <a:spcAft>
                <a:spcPts val="200"/>
              </a:spcAft>
              <a:defRPr sz="1200" b="0">
                <a:solidFill>
                  <a:srgbClr val="4A5568"/>
                </a:solidFill>
              </a:defRPr>
            </a:pPr>
            <a:r>
              <a:t>Part #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2743200" y="1143000"/>
            <a:ext cx="2194560" cy="2331720"/>
          </a:xfrm>
          <a:prstGeom prst="roundRect">
            <a:avLst/>
          </a:prstGeom>
          <a:solidFill>
            <a:srgbClr val="E6F4F4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2852928" y="1280160"/>
            <a:ext cx="329184" cy="329184"/>
          </a:xfrm>
          <a:prstGeom prst="ellipse">
            <a:avLst/>
          </a:prstGeom>
          <a:solidFill>
            <a:srgbClr val="0E7C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852928" y="1298448"/>
            <a:ext cx="329184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200"/>
              </a:spcAft>
              <a:defRPr sz="1200" b="1">
                <a:solidFill>
                  <a:srgbClr val="FFFFFF"/>
                </a:solidFill>
              </a:defRPr>
            </a:pPr>
            <a: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852928" y="1691640"/>
            <a:ext cx="1975104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200"/>
              </a:spcAft>
              <a:defRPr sz="1500" b="1">
                <a:solidFill>
                  <a:srgbClr val="1B2838"/>
                </a:solidFill>
              </a:defRPr>
            </a:pPr>
            <a:r>
              <a:t>Approve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852928" y="2103120"/>
            <a:ext cx="1975104" cy="12344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200"/>
              </a:spcAft>
              <a:defRPr sz="1200" b="0">
                <a:solidFill>
                  <a:srgbClr val="4A5568"/>
                </a:solidFill>
              </a:defRPr>
            </a:pPr>
            <a:r>
              <a:t>Your thresholds</a:t>
            </a:r>
          </a:p>
          <a:p>
            <a:pPr algn="l">
              <a:spcAft>
                <a:spcPts val="200"/>
              </a:spcAft>
              <a:defRPr sz="1200" b="0">
                <a:solidFill>
                  <a:srgbClr val="4A5568"/>
                </a:solidFill>
              </a:defRPr>
            </a:pPr>
            <a:r>
              <a:t>Inventory? (TBD)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029200" y="1143000"/>
            <a:ext cx="2194560" cy="233172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5138928" y="1280160"/>
            <a:ext cx="329184" cy="329184"/>
          </a:xfrm>
          <a:prstGeom prst="ellipse">
            <a:avLst/>
          </a:prstGeom>
          <a:solidFill>
            <a:srgbClr val="0E7C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138928" y="1298448"/>
            <a:ext cx="329184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200"/>
              </a:spcAft>
              <a:defRPr sz="1200" b="1">
                <a:solidFill>
                  <a:srgbClr val="FFFFFF"/>
                </a:solidFill>
              </a:defRPr>
            </a:pPr>
            <a: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138928" y="1691640"/>
            <a:ext cx="1975104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200"/>
              </a:spcAft>
              <a:defRPr sz="1500" b="1">
                <a:solidFill>
                  <a:srgbClr val="1B2838"/>
                </a:solidFill>
              </a:defRPr>
            </a:pPr>
            <a:r>
              <a:t>PO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138928" y="2103120"/>
            <a:ext cx="1975104" cy="12344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200"/>
              </a:spcAft>
              <a:defRPr sz="1200" b="0">
                <a:solidFill>
                  <a:srgbClr val="4A5568"/>
                </a:solidFill>
              </a:defRPr>
            </a:pPr>
            <a:r>
              <a:t>On approval</a:t>
            </a:r>
          </a:p>
          <a:p>
            <a:pPr algn="l">
              <a:spcAft>
                <a:spcPts val="200"/>
              </a:spcAft>
              <a:defRPr sz="1200" b="0">
                <a:solidFill>
                  <a:srgbClr val="4A5568"/>
                </a:solidFill>
              </a:defRPr>
            </a:pPr>
            <a:r>
              <a:t>→ NetSuite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315200" y="1143000"/>
            <a:ext cx="2194560" cy="2331720"/>
          </a:xfrm>
          <a:prstGeom prst="roundRect">
            <a:avLst/>
          </a:prstGeom>
          <a:solidFill>
            <a:srgbClr val="E6F4F4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7424928" y="1280160"/>
            <a:ext cx="329184" cy="329184"/>
          </a:xfrm>
          <a:prstGeom prst="ellipse">
            <a:avLst/>
          </a:prstGeom>
          <a:solidFill>
            <a:srgbClr val="0E7C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424928" y="1298448"/>
            <a:ext cx="329184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200"/>
              </a:spcAft>
              <a:defRPr sz="1200" b="1">
                <a:solidFill>
                  <a:srgbClr val="FFFFFF"/>
                </a:solidFill>
              </a:defRPr>
            </a:pPr>
            <a:r>
              <a:t>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424928" y="1691640"/>
            <a:ext cx="1975104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200"/>
              </a:spcAft>
              <a:defRPr sz="1500" b="1">
                <a:solidFill>
                  <a:srgbClr val="1B2838"/>
                </a:solidFill>
              </a:defRPr>
            </a:pPr>
            <a:r>
              <a:t>Receive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424928" y="2103120"/>
            <a:ext cx="1975104" cy="12344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200"/>
              </a:spcAft>
              <a:defRPr sz="1200" b="0">
                <a:solidFill>
                  <a:srgbClr val="4A5568"/>
                </a:solidFill>
              </a:defRPr>
            </a:pPr>
            <a:r>
              <a:t>Where you</a:t>
            </a:r>
          </a:p>
          <a:p>
            <a:pPr algn="l">
              <a:spcAft>
                <a:spcPts val="200"/>
              </a:spcAft>
              <a:defRPr sz="1200" b="0">
                <a:solidFill>
                  <a:srgbClr val="4A5568"/>
                </a:solidFill>
              </a:defRPr>
            </a:pPr>
            <a:r>
              <a:t>receive today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9601200" y="1143000"/>
            <a:ext cx="2194560" cy="233172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9710928" y="1280160"/>
            <a:ext cx="329184" cy="329184"/>
          </a:xfrm>
          <a:prstGeom prst="ellipse">
            <a:avLst/>
          </a:prstGeom>
          <a:solidFill>
            <a:srgbClr val="C98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710928" y="1298448"/>
            <a:ext cx="329184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200"/>
              </a:spcAft>
              <a:defRPr sz="1200" b="1">
                <a:solidFill>
                  <a:srgbClr val="FFFFFF"/>
                </a:solidFill>
              </a:defRPr>
            </a:pPr>
            <a:r>
              <a:t>5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710928" y="1691640"/>
            <a:ext cx="1975104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200"/>
              </a:spcAft>
              <a:defRPr sz="1500" b="1">
                <a:solidFill>
                  <a:srgbClr val="1B2838"/>
                </a:solidFill>
              </a:defRPr>
            </a:pPr>
            <a:r>
              <a:t>Match &amp; pay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710928" y="2103120"/>
            <a:ext cx="1975104" cy="12344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200"/>
              </a:spcAft>
              <a:defRPr sz="1200" b="0">
                <a:solidFill>
                  <a:srgbClr val="4A5568"/>
                </a:solidFill>
              </a:defRPr>
            </a:pPr>
            <a:r>
              <a:t>3-way match</a:t>
            </a:r>
          </a:p>
          <a:p>
            <a:pPr algn="l">
              <a:spcAft>
                <a:spcPts val="200"/>
              </a:spcAft>
              <a:defRPr sz="1200" b="0">
                <a:solidFill>
                  <a:srgbClr val="4A5568"/>
                </a:solidFill>
              </a:defRPr>
            </a:pPr>
            <a:r>
              <a:t>Bill Pay closes</a:t>
            </a:r>
          </a:p>
          <a:p>
            <a:pPr algn="l">
              <a:spcAft>
                <a:spcPts val="200"/>
              </a:spcAft>
              <a:defRPr sz="1200" b="0">
                <a:solidFill>
                  <a:srgbClr val="4A5568"/>
                </a:solidFill>
              </a:defRPr>
            </a:pPr>
            <a:r>
              <a:t>the loop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48640" y="3611880"/>
            <a:ext cx="109728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200"/>
              </a:spcAft>
              <a:defRPr sz="1200" b="1">
                <a:solidFill>
                  <a:srgbClr val="0E7C7B"/>
                </a:solidFill>
              </a:defRPr>
            </a:pPr>
            <a:r>
              <a:t>Parts = three-way (order + receipt + invoice). NetSuite stays the books. Services later.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457200" y="3977639"/>
            <a:ext cx="11292840" cy="2468880"/>
          </a:xfrm>
          <a:prstGeom prst="roundRect">
            <a:avLst/>
          </a:prstGeom>
          <a:solidFill>
            <a:srgbClr val="FFFFFF"/>
          </a:solidFill>
          <a:ln w="31750">
            <a:solidFill>
              <a:srgbClr val="C98A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731520" y="4114800"/>
            <a:ext cx="73152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200"/>
              </a:spcAft>
              <a:defRPr sz="1600" b="1">
                <a:solidFill>
                  <a:srgbClr val="C98A2E"/>
                </a:solidFill>
              </a:defRPr>
            </a:pPr>
            <a:r>
              <a:t>Confirm with me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31520" y="4572000"/>
            <a:ext cx="107899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200"/>
              </a:spcAft>
              <a:defRPr sz="1400" b="0">
                <a:solidFill>
                  <a:srgbClr val="1B2838"/>
                </a:solidFill>
              </a:defRPr>
            </a:pPr>
            <a:r>
              <a:t>Inventory in the path — visibility, accountability, or both?  ________________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31520" y="4983480"/>
            <a:ext cx="107899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200"/>
              </a:spcAft>
              <a:defRPr sz="1400" b="0">
                <a:solidFill>
                  <a:srgbClr val="1B2838"/>
                </a:solidFill>
              </a:defRPr>
            </a:pPr>
            <a:r>
              <a:t>Approval thresholds — who / at what $?  ________________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31520" y="5394960"/>
            <a:ext cx="107899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200"/>
              </a:spcAft>
              <a:defRPr sz="1400" b="0">
                <a:solidFill>
                  <a:srgbClr val="1B2838"/>
                </a:solidFill>
              </a:defRPr>
            </a:pPr>
            <a:r>
              <a:t>Receiving — system + who? (Requester ≠ sole receiver)  ________________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31520" y="5806440"/>
            <a:ext cx="107899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200"/>
              </a:spcAft>
              <a:defRPr sz="1400" b="0">
                <a:solidFill>
                  <a:srgbClr val="1B2838"/>
                </a:solidFill>
              </a:defRPr>
            </a:pPr>
            <a:r>
              <a:t>Pilot group + working session time  ________________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548640" y="6537960"/>
            <a:ext cx="54864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200"/>
              </a:spcAft>
              <a:defRPr sz="1000" b="0">
                <a:solidFill>
                  <a:srgbClr val="4A5568"/>
                </a:solidFill>
              </a:defRPr>
            </a:pPr>
            <a:r>
              <a:t>1 / 2  ·  Point · ask · write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6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1B28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320040"/>
            <a:ext cx="109728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200"/>
              </a:spcAft>
              <a:defRPr sz="2800" b="1">
                <a:solidFill>
                  <a:srgbClr val="1B2838"/>
                </a:solidFill>
              </a:defRPr>
            </a:pPr>
            <a:r>
              <a:t>This week — first path live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960120"/>
            <a:ext cx="11292840" cy="1051560"/>
          </a:xfrm>
          <a:prstGeom prst="roundRect">
            <a:avLst/>
          </a:prstGeom>
          <a:solidFill>
            <a:srgbClr val="1B28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" y="1143000"/>
            <a:ext cx="107899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200"/>
              </a:spcAft>
              <a:defRPr sz="1800" b="1">
                <a:solidFill>
                  <a:srgbClr val="FFFFFF"/>
                </a:solidFill>
              </a:defRPr>
            </a:pPr>
            <a:r>
              <a:t>Aircraft Parts Program  ·  small pilot  ·  one real request end-to-end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1554480"/>
            <a:ext cx="107899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200"/>
              </a:spcAft>
              <a:defRPr sz="1300" b="0">
                <a:solidFill>
                  <a:srgbClr val="CBD5E1"/>
                </a:solidFill>
              </a:defRPr>
            </a:pPr>
            <a:r>
              <a:t>Prove the path. Then expand. Don’t design the whole company day one.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2286000"/>
            <a:ext cx="3611880" cy="137160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" y="2423160"/>
            <a:ext cx="4572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200"/>
              </a:spcAft>
              <a:defRPr sz="2600" b="1">
                <a:solidFill>
                  <a:srgbClr val="0E7C7B"/>
                </a:solidFill>
              </a:defRPr>
            </a:pPr>
            <a: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43000" y="2514600"/>
            <a:ext cx="2743200" cy="10058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200"/>
              </a:spcAft>
              <a:defRPr sz="1400" b="1">
                <a:solidFill>
                  <a:srgbClr val="1B2838"/>
                </a:solidFill>
              </a:defRPr>
            </a:pPr>
            <a:r>
              <a:t>Build &amp; publish</a:t>
            </a:r>
          </a:p>
          <a:p>
            <a:pPr algn="l">
              <a:spcAft>
                <a:spcPts val="200"/>
              </a:spcAft>
              <a:defRPr sz="1400" b="1">
                <a:solidFill>
                  <a:srgbClr val="1B2838"/>
                </a:solidFill>
              </a:defRPr>
            </a:pPr>
            <a:r>
              <a:t>the Parts Program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251960" y="2286000"/>
            <a:ext cx="3611880" cy="137160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434840" y="2423160"/>
            <a:ext cx="4572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200"/>
              </a:spcAft>
              <a:defRPr sz="2600" b="1">
                <a:solidFill>
                  <a:srgbClr val="0E7C7B"/>
                </a:solidFill>
              </a:defRPr>
            </a:pPr>
            <a: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937760" y="2514600"/>
            <a:ext cx="2743200" cy="10058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200"/>
              </a:spcAft>
              <a:defRPr sz="1400" b="1">
                <a:solidFill>
                  <a:srgbClr val="1B2838"/>
                </a:solidFill>
              </a:defRPr>
            </a:pPr>
            <a:r>
              <a:t>Run the first</a:t>
            </a:r>
          </a:p>
          <a:p>
            <a:pPr algn="l">
              <a:spcAft>
                <a:spcPts val="200"/>
              </a:spcAft>
              <a:defRPr sz="1400" b="1">
                <a:solidFill>
                  <a:srgbClr val="1B2838"/>
                </a:solidFill>
              </a:defRPr>
            </a:pPr>
            <a:r>
              <a:t>request together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046720" y="2286000"/>
            <a:ext cx="3611880" cy="137160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229600" y="2423160"/>
            <a:ext cx="4572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200"/>
              </a:spcAft>
              <a:defRPr sz="2600" b="1">
                <a:solidFill>
                  <a:srgbClr val="0E7C7B"/>
                </a:solidFill>
              </a:defRPr>
            </a:pPr>
            <a: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732520" y="2514600"/>
            <a:ext cx="2743200" cy="10058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200"/>
              </a:spcAft>
              <a:defRPr sz="1400" b="1">
                <a:solidFill>
                  <a:srgbClr val="1B2838"/>
                </a:solidFill>
              </a:defRPr>
            </a:pPr>
            <a:r>
              <a:t>Review what broke</a:t>
            </a:r>
          </a:p>
          <a:p>
            <a:pPr algn="l">
              <a:spcAft>
                <a:spcPts val="200"/>
              </a:spcAft>
              <a:defRPr sz="1400" b="1">
                <a:solidFill>
                  <a:srgbClr val="1B2838"/>
                </a:solidFill>
              </a:defRPr>
            </a:pPr>
            <a:r>
              <a:t>— then scale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57200" y="3931920"/>
            <a:ext cx="11292840" cy="2194560"/>
          </a:xfrm>
          <a:prstGeom prst="roundRect">
            <a:avLst/>
          </a:prstGeom>
          <a:solidFill>
            <a:srgbClr val="F8FAFC"/>
          </a:solidFill>
          <a:ln w="31750">
            <a:solidFill>
              <a:srgbClr val="C98A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31520" y="4069080"/>
            <a:ext cx="73152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200"/>
              </a:spcAft>
              <a:defRPr sz="1600" b="1">
                <a:solidFill>
                  <a:srgbClr val="C98A2E"/>
                </a:solidFill>
              </a:defRPr>
            </a:pPr>
            <a:r>
              <a:t>Lock before we leave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31520" y="4526280"/>
            <a:ext cx="10515600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200"/>
              </a:spcAft>
              <a:defRPr sz="1400" b="0">
                <a:solidFill>
                  <a:srgbClr val="1B2838"/>
                </a:solidFill>
              </a:defRPr>
            </a:pPr>
            <a:r>
              <a:t>☐  Inventory decision for the pilot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31520" y="4892040"/>
            <a:ext cx="10515600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200"/>
              </a:spcAft>
              <a:defRPr sz="1400" b="0">
                <a:solidFill>
                  <a:srgbClr val="1B2838"/>
                </a:solidFill>
              </a:defRPr>
            </a:pPr>
            <a:r>
              <a:t>☐  Approval thresholds (or owner who has them)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31520" y="5257800"/>
            <a:ext cx="10515600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200"/>
              </a:spcAft>
              <a:defRPr sz="1400" b="0">
                <a:solidFill>
                  <a:srgbClr val="1B2838"/>
                </a:solidFill>
              </a:defRPr>
            </a:pPr>
            <a:r>
              <a:t>☐  Receiving owner + system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31520" y="5623560"/>
            <a:ext cx="10515600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200"/>
              </a:spcAft>
              <a:defRPr sz="1400" b="0">
                <a:solidFill>
                  <a:srgbClr val="1B2838"/>
                </a:solidFill>
              </a:defRPr>
            </a:pPr>
            <a:r>
              <a:t>☐  Pilot group + working session on the calendar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48640" y="6537960"/>
            <a:ext cx="91440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200"/>
              </a:spcAft>
              <a:defRPr sz="1000" b="0">
                <a:solidFill>
                  <a:srgbClr val="4A5568"/>
                </a:solidFill>
              </a:defRPr>
            </a:pPr>
            <a:r>
              <a:t>2 / 2  ·  First milestone: program live + first request through Ramp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