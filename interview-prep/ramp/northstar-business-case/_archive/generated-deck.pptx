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Open: expense live → design purchasing. Two pains: speed + audit. 15 min to align on parts path + lock first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cards. Ask: Does one parts path match your priority? Regional growth = say once, not from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5 steps in 60 sec. THEN Inventory question — visibility vs accountability vs both. Write her answer on notepad. Three-way = define once if she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90 seconds max. Path first. AI does not approve — optional later. Do not read vendor research line unless she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Close: calendar hold. Read lock checklist aloud and assign owners. 60-day win = one trusted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800" b="1">
                <a:solidFill>
                  <a:srgbClr val="FFFFFF"/>
                </a:solidFill>
              </a:defRPr>
            </a:pPr>
            <a:r>
              <a:t>Procurement Design &amp; Activation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0">
                <a:solidFill>
                  <a:srgbClr val="CBD5E1"/>
                </a:solidFill>
              </a:defRPr>
            </a:pPr>
            <a:r>
              <a:t>NorthStar Aviation  ·  Design session with Monica (Controller)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1188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800" b="0">
                <a:solidFill>
                  <a:srgbClr val="C98A2E"/>
                </a:solidFill>
              </a:defRPr>
            </a:pPr>
            <a:r>
              <a:t>Align on design. Lock the first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94A3B8"/>
                </a:solidFill>
              </a:defRPr>
            </a:pPr>
            <a:r>
              <a:t>Harrison Pizzi  ·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What we're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NorthStar Aviation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000" b="1">
                <a:solidFill>
                  <a:srgbClr val="1B2838"/>
                </a:solidFill>
              </a:defRPr>
            </a:pPr>
            <a:r>
              <a:t>What we're solving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097280"/>
            <a:ext cx="64008" cy="1828800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261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700" b="1">
                <a:solidFill>
                  <a:srgbClr val="1B2838"/>
                </a:solidFill>
              </a:defRPr>
            </a:pPr>
            <a:r>
              <a:t>Approval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1664208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Approvals bottleneck.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Parts miss need-by 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097280"/>
            <a:ext cx="53492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097280"/>
            <a:ext cx="64008" cy="1828800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6187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700" b="1">
                <a:solidFill>
                  <a:srgbClr val="1B2838"/>
                </a:solidFill>
              </a:defRPr>
            </a:pPr>
            <a:r>
              <a:t>Audit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50292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No single trail request → payment.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Email, Slack, spreadsheets.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246120"/>
            <a:ext cx="10908792" cy="1508760"/>
          </a:xfrm>
          <a:prstGeom prst="round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B2DFDB"/>
                </a:solidFill>
              </a:defRPr>
            </a:pPr>
            <a:r>
              <a:t>START HERE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2412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FFFFFF"/>
                </a:solidFill>
              </a:defRPr>
            </a:pPr>
            <a:r>
              <a:t>One controlled aircraft parts path — request through payment.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900" b="0">
                <a:solidFill>
                  <a:srgbClr val="FFFFFF"/>
                </a:solidFill>
              </a:defRPr>
            </a:pPr>
            <a:r>
              <a:t>Prove it with a pilot, then expand.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Recommended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NorthStar Aviation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000" b="1">
                <a:solidFill>
                  <a:srgbClr val="1B2838"/>
                </a:solidFill>
              </a:defRPr>
            </a:pPr>
            <a:r>
              <a:t>Recommended path · confirm together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51560"/>
            <a:ext cx="217627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12648" y="1161288"/>
            <a:ext cx="347472" cy="347472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179576"/>
            <a:ext cx="347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819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B2838"/>
                </a:solidFill>
              </a:defRPr>
            </a:pPr>
            <a:r>
              <a:t>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1947672"/>
            <a:ext cx="19568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Parts Program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Qty × price · need-by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Vendor · part #</a:t>
            </a:r>
          </a:p>
        </p:txBody>
      </p:sp>
      <p:sp>
        <p:nvSpPr>
          <p:cNvPr id="12" name="Chevron 11"/>
          <p:cNvSpPr/>
          <p:nvPr/>
        </p:nvSpPr>
        <p:spPr>
          <a:xfrm>
            <a:off x="2688336" y="2011680"/>
            <a:ext cx="73152" cy="32004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70632" y="1051560"/>
            <a:ext cx="2176272" cy="2240280"/>
          </a:xfrm>
          <a:prstGeom prst="roundRect">
            <a:avLst/>
          </a:prstGeom>
          <a:solidFill>
            <a:srgbClr val="E6F4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880360" y="1161288"/>
            <a:ext cx="347472" cy="347472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80360" y="1179576"/>
            <a:ext cx="347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5819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B2838"/>
                </a:solidFill>
              </a:defRPr>
            </a:pPr>
            <a:r>
              <a:t>Approve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1947672"/>
            <a:ext cx="19568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Your thresholds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Inventory? (TBD)</a:t>
            </a:r>
          </a:p>
        </p:txBody>
      </p:sp>
      <p:sp>
        <p:nvSpPr>
          <p:cNvPr id="18" name="Chevron 17"/>
          <p:cNvSpPr/>
          <p:nvPr/>
        </p:nvSpPr>
        <p:spPr>
          <a:xfrm>
            <a:off x="4956048" y="2011680"/>
            <a:ext cx="73152" cy="32004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38344" y="1051560"/>
            <a:ext cx="217627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48072" y="1161288"/>
            <a:ext cx="347472" cy="347472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8072" y="1179576"/>
            <a:ext cx="347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072" y="15819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B2838"/>
                </a:solidFill>
              </a:defRPr>
            </a:pPr>
            <a:r>
              <a:t>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72" y="1947672"/>
            <a:ext cx="19568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On approval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→ NetSuite</a:t>
            </a:r>
          </a:p>
        </p:txBody>
      </p:sp>
      <p:sp>
        <p:nvSpPr>
          <p:cNvPr id="24" name="Chevron 23"/>
          <p:cNvSpPr/>
          <p:nvPr/>
        </p:nvSpPr>
        <p:spPr>
          <a:xfrm>
            <a:off x="7223760" y="2011680"/>
            <a:ext cx="73152" cy="32004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06056" y="1051560"/>
            <a:ext cx="2176272" cy="2240280"/>
          </a:xfrm>
          <a:prstGeom prst="roundRect">
            <a:avLst/>
          </a:prstGeom>
          <a:solidFill>
            <a:srgbClr val="E6F4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415784" y="1161288"/>
            <a:ext cx="347472" cy="347472"/>
          </a:xfrm>
          <a:prstGeom prst="ellipse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15784" y="1179576"/>
            <a:ext cx="347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4" y="15819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B2838"/>
                </a:solidFill>
              </a:defRPr>
            </a:pPr>
            <a:r>
              <a:t>Receive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4" y="1947672"/>
            <a:ext cx="19568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Where you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receive today</a:t>
            </a:r>
          </a:p>
        </p:txBody>
      </p:sp>
      <p:sp>
        <p:nvSpPr>
          <p:cNvPr id="30" name="Chevron 29"/>
          <p:cNvSpPr/>
          <p:nvPr/>
        </p:nvSpPr>
        <p:spPr>
          <a:xfrm>
            <a:off x="9491472" y="2011680"/>
            <a:ext cx="73152" cy="320040"/>
          </a:xfrm>
          <a:prstGeom prst="chevron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73768" y="1051560"/>
            <a:ext cx="217627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683496" y="1161288"/>
            <a:ext cx="347472" cy="347472"/>
          </a:xfrm>
          <a:prstGeom prst="ellipse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83496" y="1179576"/>
            <a:ext cx="347472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83496" y="1581912"/>
            <a:ext cx="195681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1">
                <a:solidFill>
                  <a:srgbClr val="1B2838"/>
                </a:solidFill>
              </a:defRPr>
            </a:pPr>
            <a:r>
              <a:t>Match &amp; pay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83496" y="1947672"/>
            <a:ext cx="1956816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Order + receipt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+ invoice → pay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34015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00" b="1">
                <a:solidFill>
                  <a:srgbClr val="0E7C7B"/>
                </a:solidFill>
              </a:defRPr>
            </a:pPr>
            <a:r>
              <a:t>Three-way = order + receipt + invoice before pay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3794760"/>
            <a:ext cx="10908792" cy="22402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3913632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98A2E"/>
                </a:solidFill>
              </a:defRPr>
            </a:pPr>
            <a:r>
              <a:t>Confirm with 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37083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Inventory in the path — visibility, accountability, or both?  _______________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78231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Approval thresholds — who / at what $  _______________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Receiving — system + owner  _______________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052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Pilot group + working session (45–60 min)  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After the path is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NorthStar Aviation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9144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000" b="1">
                <a:solidFill>
                  <a:srgbClr val="1B2838"/>
                </a:solidFill>
              </a:defRPr>
            </a:pPr>
            <a:r>
              <a:t>After the path is 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96112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500" b="0">
                <a:solidFill>
                  <a:srgbClr val="4A5568"/>
                </a:solidFill>
              </a:defRPr>
            </a:pPr>
            <a:r>
              <a:t>Extensions — not week-one blockers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53492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17320"/>
            <a:ext cx="64008" cy="3063240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5819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700" b="1">
                <a:solidFill>
                  <a:srgbClr val="1B2838"/>
                </a:solidFill>
              </a:defRPr>
            </a:pPr>
            <a:r>
              <a:t>Bill 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84248"/>
            <a:ext cx="502920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Matched invoices paid in Ramp.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Due dates leave the spreadsheet.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Full request-to-payment trail.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17320"/>
            <a:ext cx="5349240" cy="3063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417320"/>
            <a:ext cx="64008" cy="3063240"/>
          </a:xfrm>
          <a:prstGeom prst="rect">
            <a:avLst/>
          </a:prstGeom>
          <a:solidFill>
            <a:srgbClr val="C9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81912"/>
            <a:ext cx="5029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700" b="1">
                <a:solidFill>
                  <a:srgbClr val="1B2838"/>
                </a:solidFill>
              </a:defRPr>
            </a:pPr>
            <a:r>
              <a:t>AI summary (optional)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84248"/>
            <a:ext cx="5029200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Short summary for human approvers.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Does not approve or reject.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4A5568"/>
                </a:solidFill>
              </a:defRPr>
            </a:pPr>
            <a:r>
              <a:t>Useful as volume grows — path first.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70916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Vendor research agents can help on new vendors later — not required to prove the parts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ED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4A5568"/>
                </a:solidFill>
              </a:defRPr>
            </a:pPr>
            <a:r>
              <a:t>NorthStar Aviation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"/>
            <a:ext cx="7315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3000" b="1">
                <a:solidFill>
                  <a:srgbClr val="1B2838"/>
                </a:solidFill>
              </a:defRPr>
            </a:pPr>
            <a:r>
              <a:t>This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908792" cy="960120"/>
          </a:xfrm>
          <a:prstGeom prst="roundRect">
            <a:avLst/>
          </a:prstGeom>
          <a:solidFill>
            <a:srgbClr val="1B2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61872"/>
            <a:ext cx="104241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800" b="1">
                <a:solidFill>
                  <a:srgbClr val="FFFFFF"/>
                </a:solidFill>
              </a:defRPr>
            </a:pPr>
            <a:r>
              <a:t>Stand up the Aircraft Parts Program  ·  pilot group  ·  one real request end-to-end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2402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35915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0E7C7B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450592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1B2838"/>
                </a:solidFill>
              </a:defRPr>
            </a:pPr>
            <a:r>
              <a:t>Build &amp; publish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 the Parts Program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2402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35915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0E7C7B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2450592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1B2838"/>
                </a:solidFill>
              </a:defRPr>
            </a:pPr>
            <a:r>
              <a:t>Run the first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 request together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240280"/>
            <a:ext cx="35204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2359152"/>
            <a:ext cx="502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0E7C7B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2450592"/>
            <a:ext cx="26974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300" b="1">
                <a:solidFill>
                  <a:srgbClr val="1B2838"/>
                </a:solidFill>
              </a:defRPr>
            </a:pPr>
            <a:r>
              <a:t>Review what broke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300" b="0">
                <a:solidFill>
                  <a:srgbClr val="1B2838"/>
                </a:solidFill>
              </a:defRPr>
            </a:pPr>
            <a:r>
              <a:t> — tune before scaling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94760"/>
            <a:ext cx="10908792" cy="19659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C98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13632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600" b="1">
                <a:solidFill>
                  <a:srgbClr val="C98A2E"/>
                </a:solidFill>
              </a:defRPr>
            </a:pPr>
            <a:r>
              <a:t>Lock before we leave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370832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0">
                <a:solidFill>
                  <a:srgbClr val="1B2838"/>
                </a:solidFill>
              </a:defRPr>
            </a:pPr>
            <a:r>
              <a:t>☐  Inventory decision for the 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754880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0">
                <a:solidFill>
                  <a:srgbClr val="1B2838"/>
                </a:solidFill>
              </a:defRPr>
            </a:pPr>
            <a:r>
              <a:t>☐  Approval thresholds (or owner who has them)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38928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0">
                <a:solidFill>
                  <a:srgbClr val="1B2838"/>
                </a:solidFill>
              </a:defRPr>
            </a:pPr>
            <a:r>
              <a:t>☐  Receiving owner +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22976"/>
            <a:ext cx="10058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400" b="0">
                <a:solidFill>
                  <a:srgbClr val="1B2838"/>
                </a:solidFill>
              </a:defRPr>
            </a:pPr>
            <a:r>
              <a:t>☐  Pilot group + session on calendar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89788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0">
                <a:solidFill>
                  <a:srgbClr val="4A5568"/>
                </a:solidFill>
              </a:defRPr>
            </a:pPr>
            <a:r>
              <a:t>60-day win = one trusted parts path — not every edge case on day 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